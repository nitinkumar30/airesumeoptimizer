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AI Resume Optimizer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78BFA"/>
                </a:solidFill>
                <a:latin typeface="Calibri"/>
              </a:defRPr>
            </a:pPr>
            <a:r>
              <a:t>Automated ATS-Optimized Resume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CA3AF"/>
                </a:solidFill>
                <a:latin typeface="Calibri"/>
              </a:defRPr>
            </a:pPr>
            <a:r>
              <a:t>n8n Workflow  |  Google Gemini  |  OpenAI GPT  |  Telegram Delivery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4114800"/>
            <a:ext cx="4876495" cy="27432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Nitin Kumar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13+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n8n Nodes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AI Stages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60-90s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Avg. Processing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5029200"/>
            <a:ext cx="2286000" cy="10972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84080" y="507492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667EEA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55778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Running Cost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What does it do? Everything -- fully automatically.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Resume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Parses PDF/DOCX into structured JSON with multi-role consolidation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JD Intelligence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Extracts ATS keywords, domain classification, seniority level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ATS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Rewrites bullets with action verbs, injects JD keywords naturally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4630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LaTeX Compilation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0116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Generates clean pdflatex PDF via free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ATS Scoring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0-100 match score with 3 targeted gap bullets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Cover Letter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Personalized HTML cover letter, Gmail-compatible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0" y="3291840"/>
            <a:ext cx="2651760" cy="15544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0" y="3429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Telegram Delivery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3840480"/>
            <a:ext cx="2286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PDF + Cover Letter + ATS Score sent directly to your chat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End-to-end pipeline from upload to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User submits Resume + JD via Web 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7830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Extract text from Resume (PDF/DOCX)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5146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AI: Parse Resume to Structured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8803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01752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0632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AI: Parse JD to Structured JSON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4290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356616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6118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AI: Generate ATS-optimized LaTeX Resume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39776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11480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160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Code: Clean and prepare LaTeX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452628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6344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09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ATS Score Agent + Cover Letter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0749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21208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25780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Compile LaTeX to PDF (latex.ytotech.com)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56235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|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760720"/>
            <a:ext cx="5029200" cy="457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8064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Telegram: Send PDF + Cover Letter + Score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Architecture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19202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How data flows through the workflow: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22860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1. Form Trigger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61120" y="22860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Collects Resume + JD from user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7889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2. Extract from File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27889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PDF/DOCX to Plain Text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3291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3. Resume Extractor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61120" y="329184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Text to Structured JSON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7947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4. JD Extractor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61120" y="37947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JD to Keywords + Priority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4297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5. Merge + LaTeX 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2976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JSONs to ATS LaTeX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480060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6. ATS Score + Cover Letter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61120" y="48006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Analysis + Writing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5303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67EEA"/>
                </a:solidFill>
                <a:latin typeface="Calibri"/>
              </a:defRPr>
            </a:pPr>
            <a:r>
              <a:t>7. Compile PDF + Deliver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61120" y="53035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LaTeX to PDF to Telegram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Node-by-Node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13 nodes working in perfect harmony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1. Resume + JD submitted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Form Trigger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Web form: file upload + JD textarea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464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2. Extract from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Extract 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Reads PDF/DOCX to plain text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3. Resume extractor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 (Gemini/GPT)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Text to Structured JSON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2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4. JD extractor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 (Gemini/GPT)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JD to Keywords + Priority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137160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66960" y="144475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5. Generated resume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 (Gemini/GPT)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10312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Fills LaTeX skeleton with ATS content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6. Prepare compilation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(JavaScript)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Cleans LaTeX, extracts name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4320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3464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7. Compile latex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HTTP Request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Sends LaTeX to ytotech API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12064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1208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8. Convert to pdf file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1208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(JavaScript)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Attaches filename metadata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49808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8952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9. ATS Score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8952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 (Gemini/GPT)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8952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0-100 match score + gaps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875520" y="310896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6960" y="318211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10. Cover Letter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520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AI Agent (Gemini/GPT)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384048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Personalized HTML cover letter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6576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11. Build Caption + CL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Code (JavaScript)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Score bar + cover letter HTML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4320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3464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12. Send via Telegram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3464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3464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Sends PDF with ATS caption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120640" y="4846320"/>
            <a:ext cx="21945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0" y="491947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A78BFA"/>
                </a:solidFill>
                <a:latin typeface="Calibri"/>
              </a:defRPr>
            </a:pPr>
            <a:r>
              <a:t>13. Send Cover Letter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80" y="52578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BBF24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5577840"/>
            <a:ext cx="2011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0E0"/>
                </a:solidFill>
                <a:latin typeface="Calibri"/>
              </a:defRPr>
            </a:pPr>
            <a:r>
              <a:t>Sends HTML cover letter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Supported AI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Multi-provider architecture with fallback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Google Gemini Family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models/gemini-2.0-flash-lite-001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Resume/JD Parsing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models/gemini-2.5-flash-image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Parsing + Reasoning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023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models/gemini-3.1-flash-image-preview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4023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40233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Better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LaTeX Generation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models/gemini-3-pro-image-preview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029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50292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0" y="5029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ATS Scoring, Cover Letter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371600"/>
            <a:ext cx="5486400" cy="2743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OpenAI Family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0116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gpt-5-mini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0116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Good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Fast parsing tasks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017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0E0E0"/>
                </a:solidFill>
                <a:latin typeface="Calibri"/>
              </a:defRPr>
            </a:pPr>
            <a:r>
              <a:t>gpt-5.4-image-2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301752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4D399"/>
                </a:solidFill>
                <a:latin typeface="Calibri"/>
              </a:defRPr>
            </a:pPr>
            <a:r>
              <a:t>Better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Advanced generation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4389120"/>
            <a:ext cx="5486400" cy="201168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4805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OpenRouter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Auto-routes to best available model. Seamless fallback across providers.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ATS Scoring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4-factor weighted analysis: 0-100 match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Scoring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Keyword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011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High-priority JD keywords found in resume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175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Skills Alignment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Must-have skills present in resume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233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Experience Relevance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40233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Years of experience + domain match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Role Title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50292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49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Seniority and role type match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371600"/>
            <a:ext cx="54864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Score Interpretation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2011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80-100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2011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Strong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331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Recruiter-ready resume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60-79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30175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Good Match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337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Minor adjustments needed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40-59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0233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Moderate Match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3434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Significant improvements needed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5029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0-39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50292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Weak 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349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CA3AF"/>
                </a:solidFill>
                <a:latin typeface="Calibri"/>
              </a:defRPr>
            </a:pPr>
            <a:r>
              <a:t>Major overhaul recommended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Cover Letter Generator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5-paragraph HTML cover letters - Gmail-ready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1. Strong Hook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Grab attention with company/role 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2. Why This Role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Show research using JD intelligence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3. Key Achievements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2-3 quantified wins from resume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4. Addressing Gaps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Skill gap as learning narrative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1920240"/>
            <a:ext cx="2103120" cy="16459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38360" y="2011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A78BFA"/>
                </a:solidFill>
                <a:latin typeface="Calibri"/>
              </a:defRPr>
            </a:pPr>
            <a:r>
              <a:t>5. Closing CTA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246888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Confident, action-oriented closing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Strict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Use ONLY real data from Resume JSON -- never hallucinate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Keep total length to 300-380 words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212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No cliches: I am writing to apply, passion for, team player, go-getter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Professional font: Georgia, serif - Max width: 700px - Centered layout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0E0E0"/>
                </a:solidFill>
                <a:latin typeface="Calibri"/>
              </a:defRPr>
            </a:pPr>
            <a:r>
              <a:t>Self-contained HTML with inline CSS -- works in Gmail and all email clients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How the AI Optimization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Three-stage intelligence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1 - Resume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Consolidates multi-role employment histories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Maps projects to employers by date alignment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Reassembles fragmented two-column layouts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Standardizes date formats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Strict anti-hallucination rules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2 - JD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Detect-only analysis - no inference or bias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Classifies domain into 15 categories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Identifies must-have vs. good-to-have 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Maps responsibility types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Generates placement strategy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1371600"/>
            <a:ext cx="3657600" cy="50292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46304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Stage 3 - ATS-Optimized Generation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10312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Rewrites bullets with strong action verbs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28803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Injects JD keywords naturally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6576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Reorders skills by JD priority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43484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Outputs clean, compilable LaTeX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5212079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All brackets properly balanced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Setup and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5 steps from zero to generating resumes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1. Import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Workflows -&gt; Import</a:t>
            </a:r>
            <a:br/>
            <a:r>
              <a:t>Upload the .json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All nodes pre-configured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2.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Add Google PaLM API (Gemini)</a:t>
            </a:r>
            <a:br/>
            <a:r>
              <a:t>+ OpenAI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Link to AI model nodes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5780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3. Telegram Bot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Use @BotFather -&gt; /newbot</a:t>
            </a:r>
            <a:br/>
            <a:r>
              <a:t>Copy bot token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Add Telegram credential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8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3524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4. Chat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Message bot -&gt; api.telegram.org</a:t>
            </a:r>
            <a:br/>
            <a:r>
              <a:t>/bot&lt;TOKEN&gt;/getUpdates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Find chat.id value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1371600"/>
            <a:ext cx="2194560" cy="320040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12680" y="146304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A78BFA"/>
                </a:solidFill>
                <a:latin typeface="Calibri"/>
              </a:defRPr>
            </a:pPr>
            <a:r>
              <a:t>5. Activate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20116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E0E0E0"/>
                </a:solidFill>
                <a:latin typeface="Calibri"/>
              </a:defRPr>
            </a:pPr>
            <a:r>
              <a:t>Toggle Active -&gt; Copy</a:t>
            </a:r>
            <a:br/>
            <a:r>
              <a:t>Production URL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9260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4D399"/>
                </a:solidFill>
                <a:latin typeface="Calibri"/>
              </a:defRPr>
            </a:pPr>
            <a:r>
              <a:t>Share with anyone!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AF"/>
                </a:solidFill>
                <a:latin typeface="Calibri"/>
              </a:defRPr>
            </a:pPr>
            <a:r>
              <a:t>n8n v2.14+  |  Google Gemini API key (free)  |  OpenAI API key (optional)  |  Telegram Bot  |  Internet access to latex.ytotech.com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Future Enhancement Ideas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Whats next for AI Resume Optimizer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Email Delivery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Gmail node to send PDF + Cover Letter to recruiters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Parallel 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Run Resume and JD parsers simultaneously - 40% faster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Instant Acknowledgment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Auto-reply on form submit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37160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14630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Error Alerts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182880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Error Trigger to Telegram on failure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Google Sheets 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Log name, domain, score, timestamp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900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Multi-language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Auto-detect and translate resume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A/B 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Two versions with different keyword strategies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310896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Company Research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1160" y="356616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Web search node researches company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Version History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Store all resumes with diff and revert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WhatsApp 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900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WhatsApp Business API as alternate channel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5508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Direct Apply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508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Connect to LinkedIn and Indeed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4846320"/>
            <a:ext cx="2651760" cy="146304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81160" y="4937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78BFA"/>
                </a:solidFill>
                <a:latin typeface="Calibri"/>
              </a:defRPr>
            </a:pPr>
            <a:r>
              <a:t>Plugin System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5303520"/>
            <a:ext cx="2377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E0E0"/>
                </a:solidFill>
                <a:latin typeface="Calibri"/>
              </a:defRPr>
            </a:pPr>
            <a:r>
              <a:t>Community plugins for templates and formats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73152"/>
          </a:xfrm>
          <a:prstGeom prst="roundRect">
            <a:avLst/>
          </a:prstGeom>
          <a:solidFill>
            <a:srgbClr val="667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8640" y="365760"/>
            <a:ext cx="640080" cy="640080"/>
          </a:xfrm>
          <a:prstGeom prst="ellipse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8229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Common issues and quick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188720"/>
            <a:ext cx="9601200" cy="18288"/>
          </a:xfrm>
          <a:prstGeom prst="rect">
            <a:avLst/>
          </a:prstGeom>
          <a:solidFill>
            <a:srgbClr val="2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Missing begin 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13716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14630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LLM markdown fences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3716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0" y="14630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Auto-fixed by code node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860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74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MISSING COMPILATION SPEC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0480" y="22860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3774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Double == in HTTP body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22860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23774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Use single = expression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2004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Empty PDF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32004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31920" y="32918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Scanned image PDF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80960" y="32004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32918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Use text-based PDF or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1148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2062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Telegram not sending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40480" y="41148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1920" y="42062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Bot not in group/admin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0" y="41148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42062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Add bot and make admin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32004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87274"/>
                </a:solidFill>
                <a:latin typeface="Calibri"/>
              </a:defRPr>
            </a:pPr>
            <a:r>
              <a:t>Gemini API errors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0" y="5029200"/>
            <a:ext cx="36576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512064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BBF24"/>
                </a:solidFill>
                <a:latin typeface="Calibri"/>
              </a:defRPr>
            </a:pPr>
            <a:r>
              <a:t>Free tier rate limit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5029200"/>
            <a:ext cx="4114800" cy="731520"/>
          </a:xfrm>
          <a:prstGeom prst="roundRect">
            <a:avLst/>
          </a:prstGeom>
          <a:solidFill>
            <a:srgbClr val="1A1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512064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4D399"/>
                </a:solidFill>
                <a:latin typeface="Calibri"/>
              </a:defRPr>
            </a:pPr>
            <a:r>
              <a:t>Add Wait node between calls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C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78BFA"/>
                </a:solidFill>
                <a:latin typeface="Calibri"/>
              </a:defRPr>
            </a:pPr>
            <a:r>
              <a:t>AI Resume Optimizer - because your resume should work as hard as you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Calibri"/>
              </a:defRPr>
            </a:pPr>
            <a:r>
              <a:t>License: MIT - Free to use, modify, and 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0E0E0"/>
                </a:solidFill>
                <a:latin typeface="Calibri"/>
              </a:defRPr>
            </a:pPr>
            <a:r>
              <a:t>Author: Nitin Kumar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LinkedIn: linkedin.com/in/nitinkumar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  <a:latin typeface="Calibri"/>
              </a:defRPr>
            </a:pPr>
            <a:r>
              <a:t>GitHub: github.com/nitinkumar30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CA3AF"/>
                </a:solidFill>
                <a:latin typeface="Calibri"/>
              </a:defRPr>
            </a:pPr>
            <a:r>
              <a:t>Built with coffee, too many LaTeX error logs, and a firm belief that your resume should work as hard as you 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