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AI Resume Optimizer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78BFA"/>
                </a:solidFill>
                <a:latin typeface="Calibri"/>
              </a:defRPr>
            </a:pPr>
            <a:r>
              <a:t>Automated ATS-Optimized Resume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CA3AF"/>
                </a:solidFill>
                <a:latin typeface="Calibri"/>
              </a:defRPr>
            </a:pPr>
            <a:r>
              <a:t>n8n Workflow  |  Google Gemini  |  OpenAI GPT  |  Telegram Delivery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114800"/>
            <a:ext cx="4876495" cy="2743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  <a:latin typeface="Calibri"/>
              </a:defRPr>
            </a:pPr>
            <a:r>
              <a:t>Nitin Kumar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5029200"/>
            <a:ext cx="2286000" cy="10972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50749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667EEA"/>
                </a:solidFill>
                <a:latin typeface="Calibri"/>
              </a:defRPr>
            </a:pPr>
            <a:r>
              <a:t>13+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55778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n8n Nodes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5029200"/>
            <a:ext cx="2286000" cy="10972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50749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667EE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55778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AI Stages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5029200"/>
            <a:ext cx="2286000" cy="10972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50749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667EEA"/>
                </a:solidFill>
                <a:latin typeface="Calibri"/>
              </a:defRPr>
            </a:pPr>
            <a:r>
              <a:t>60-90s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55778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Processing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0" y="5029200"/>
            <a:ext cx="2286000" cy="10972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0" y="50749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667EEA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55778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Cost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667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What does it do? Everything -- fully automatically.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9601200" cy="18288"/>
          </a:xfrm>
          <a:prstGeom prst="rect">
            <a:avLst/>
          </a:prstGeom>
          <a:solidFill>
            <a:srgbClr val="2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2651760" cy="15544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Resume Extraction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Parses PDF/DOCX into structured JSON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463040"/>
            <a:ext cx="2651760" cy="15544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JD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0116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Extracts ATS keywords &amp; priority signals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2651760" cy="15544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ATS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0116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Rewrites bullets with action verbs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463040"/>
            <a:ext cx="2651760" cy="15544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LaTeX Compilation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0116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Clean PDF via free pdflatex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88720" y="3291840"/>
            <a:ext cx="2651760" cy="15544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ATS Scoring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8404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0-100 match score + gap analysis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0" y="3291840"/>
            <a:ext cx="2651760" cy="15544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Cover Letter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8404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Personalized HTML, Gmail-compatible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3291840"/>
            <a:ext cx="2651760" cy="15544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Telegram Delivery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38404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PDF + Cover Letter + Score in one go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667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End-to-end pipeline from upload to delivery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9601200" cy="18288"/>
          </a:xfrm>
          <a:prstGeom prst="rect">
            <a:avLst/>
          </a:prstGeom>
          <a:solidFill>
            <a:srgbClr val="2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943600" cy="438912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2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User submits Resume + JD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19"/>
            <a:ext cx="5943600" cy="438912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0239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Extract from File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943600" cy="438912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42316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Resume Parser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880360"/>
            <a:ext cx="5943600" cy="438912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2608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JD Parser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83280"/>
            <a:ext cx="5943600" cy="438912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2900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Merge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886200"/>
            <a:ext cx="5943600" cy="438912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93192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LaTeX Generator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389120"/>
            <a:ext cx="5943600" cy="438912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43484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ATS Score + Cover Letter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892040"/>
            <a:ext cx="5943600" cy="438912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3776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Compile PDF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394960"/>
            <a:ext cx="5943600" cy="438912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44068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Telegram Delivery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1371600"/>
            <a:ext cx="4572000" cy="5029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79" y="14630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Key Metrics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2103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Total Nodes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103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2880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AI Agents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2880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3657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Code Nodes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657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4434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API Calls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4434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52120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Delivery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52120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Telegram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5989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Avg 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5989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60-90s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667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Node-by-Node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13 nodes working in harmony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9601200" cy="18288"/>
          </a:xfrm>
          <a:prstGeom prst="rect">
            <a:avLst/>
          </a:prstGeom>
          <a:solidFill>
            <a:srgbClr val="2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1. Resume &amp; JD submitted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Form Trigger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Web form: file + JD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37160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144475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2. Extract from 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1783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Extract 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1031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PDF/DOCX to 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137160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0" y="144475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3. Resume extractor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1783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AI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1031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Text to JSON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0" y="137160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44475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4. JD extractor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1783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AI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1031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JD to keywords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0" y="137160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6960" y="144475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5. Generated resume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1783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AI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1031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LaTeX ATS content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310896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1821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6. Prepare compilation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520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Code (JS)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8404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Clean LaTeX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0" y="310896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34640" y="31821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7. Compile latex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3520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HTTP Request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34640" y="38404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PDF via ytotech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120640" y="310896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12080" y="31821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8. Convert to pdf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80" y="3520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Code (JS)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38404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Add filename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98080" y="310896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89520" y="31821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9. ATS Score 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3520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AI Agent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0" y="38404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0-100 score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875520" y="310896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66960" y="31821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10. Cover Letter Agent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520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AI Agent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66960" y="38404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HTML letter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65760" y="484632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49194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11. Build Caption + CL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2578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Code (JS)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55778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Caption + HTML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743200" y="484632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834640" y="49194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12. Send resume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34640" y="52578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Telegram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34640" y="55778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PDF delivery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120640" y="484632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12080" y="49194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13. Send Cover Letter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12080" y="52578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Telegram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80" y="55778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HTML delivery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667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Supported AI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Multi-provider with fallback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9601200" cy="18288"/>
          </a:xfrm>
          <a:prstGeom prst="rect">
            <a:avLst/>
          </a:prstGeom>
          <a:solidFill>
            <a:srgbClr val="2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Google Gemini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Calibri"/>
              </a:defRPr>
            </a:pPr>
            <a:r>
              <a:t>gemini-2.0-flash-lite-001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0116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Fast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0116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4D399"/>
                </a:solidFill>
                <a:latin typeface="Calibri"/>
              </a:defRPr>
            </a:pPr>
            <a:r>
              <a:t>Good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Parsing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17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Calibri"/>
              </a:defRPr>
            </a:pPr>
            <a:r>
              <a:t>gemini-2.5-flash-image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017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Fast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017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4D399"/>
                </a:solidFill>
                <a:latin typeface="Calibri"/>
              </a:defRPr>
            </a:pPr>
            <a:r>
              <a:t>Good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017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Parsing +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023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Calibri"/>
              </a:defRPr>
            </a:pPr>
            <a:r>
              <a:t>gemini-3.1-flash-image-preview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023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Med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4023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4D399"/>
                </a:solidFill>
                <a:latin typeface="Calibri"/>
              </a:defRPr>
            </a:pPr>
            <a:r>
              <a:t>Better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40233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LaTeX Gen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029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Calibri"/>
              </a:defRPr>
            </a:pPr>
            <a:r>
              <a:t>gemini-3-pro-image-preview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0292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50292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4D399"/>
                </a:solidFill>
                <a:latin typeface="Calibri"/>
              </a:defRPr>
            </a:pPr>
            <a:r>
              <a:t>Best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50292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ATS + Cover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371600"/>
            <a:ext cx="5486400" cy="22860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OpenAI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011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Calibri"/>
              </a:defRPr>
            </a:pPr>
            <a:r>
              <a:t>gpt-5-mini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20116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Fast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20116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4D399"/>
                </a:solidFill>
                <a:latin typeface="Calibri"/>
              </a:defRPr>
            </a:pPr>
            <a:r>
              <a:t>Good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2011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Parsing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0175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Calibri"/>
              </a:defRPr>
            </a:pPr>
            <a:r>
              <a:t>gpt-5.4-image-2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3017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Med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3017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4D399"/>
                </a:solidFill>
                <a:latin typeface="Calibri"/>
              </a:defRPr>
            </a:pPr>
            <a:r>
              <a:t>Better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40" y="3017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931920"/>
            <a:ext cx="5486400" cy="24688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023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OpenRouter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4805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Auto-routes to best available model. Seamless fallback across providers.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667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ATS Scoring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4-factor weighted analysis: 0-100 match score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9601200" cy="18288"/>
          </a:xfrm>
          <a:prstGeom prst="rect">
            <a:avLst/>
          </a:prstGeom>
          <a:solidFill>
            <a:srgbClr val="2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Scoring Formula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Keyword Coverage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0116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317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High-priority keywords found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175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Skills Alignment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017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Calibri"/>
              </a:defRPr>
            </a:pPr>
            <a:r>
              <a:t>30%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3375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Must-have skills present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23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Experience Relevance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023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Calibri"/>
              </a:defRPr>
            </a:pPr>
            <a:r>
              <a:t>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43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Years + domain 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29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Role Title 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50292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Calibri"/>
              </a:defRPr>
            </a:pPr>
            <a: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492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Seniority alignment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371600"/>
            <a:ext cx="5486400" cy="5029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Score Interpretation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80-100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2011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Strong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3317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Recruiter-ready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017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60-79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3017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Good Match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3375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Minor fixes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0233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40-59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Moderate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343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Improve needed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0292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0-39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5029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Weak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3492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Overhaul needed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667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Cover Letter Generator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5-paragraph HTML cover letters -- Gmail-ready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9601200" cy="18288"/>
          </a:xfrm>
          <a:prstGeom prst="rect">
            <a:avLst/>
          </a:prstGeom>
          <a:solidFill>
            <a:srgbClr val="2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20240"/>
            <a:ext cx="2103120" cy="16459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A78BFA"/>
                </a:solidFill>
                <a:latin typeface="Calibri"/>
              </a:defRPr>
            </a:pPr>
            <a:r>
              <a:t>1. Strong Hook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4688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E0E0"/>
                </a:solidFill>
                <a:latin typeface="Calibri"/>
              </a:defRPr>
            </a:pPr>
            <a:r>
              <a:t>Company/role reference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920240"/>
            <a:ext cx="2103120" cy="16459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A78BFA"/>
                </a:solidFill>
                <a:latin typeface="Calibri"/>
              </a:defRPr>
            </a:pPr>
            <a:r>
              <a:t>2. Why This Role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4688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E0E0"/>
                </a:solidFill>
                <a:latin typeface="Calibri"/>
              </a:defRPr>
            </a:pPr>
            <a:r>
              <a:t>Show research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920240"/>
            <a:ext cx="2103120" cy="16459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A78BFA"/>
                </a:solidFill>
                <a:latin typeface="Calibri"/>
              </a:defRPr>
            </a:pPr>
            <a:r>
              <a:t>3. Achievements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4688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E0E0"/>
                </a:solidFill>
                <a:latin typeface="Calibri"/>
              </a:defRPr>
            </a:pPr>
            <a:r>
              <a:t>2-3 quantified wins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920240"/>
            <a:ext cx="2103120" cy="16459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A78BFA"/>
                </a:solidFill>
                <a:latin typeface="Calibri"/>
              </a:defRPr>
            </a:pPr>
            <a:r>
              <a:t>4. Address Gaps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24688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E0E0"/>
                </a:solidFill>
                <a:latin typeface="Calibri"/>
              </a:defRPr>
            </a:pPr>
            <a:r>
              <a:t>Learning narrative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1920240"/>
            <a:ext cx="2103120" cy="16459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3836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A78BFA"/>
                </a:solidFill>
                <a:latin typeface="Calibri"/>
              </a:defRPr>
            </a:pPr>
            <a:r>
              <a:t>5. Closing CTA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24688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E0E0"/>
                </a:solidFill>
                <a:latin typeface="Calibri"/>
              </a:defRPr>
            </a:pPr>
            <a:r>
              <a:t>Action-oriented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Rules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297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Real data only -- never hallucinate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300-380 words, no cliches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212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Georgia serif, 700px, inline CSS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Gmail-compatible HTML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667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AI Optimization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Three-stage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9601200" cy="18288"/>
          </a:xfrm>
          <a:prstGeom prst="rect">
            <a:avLst/>
          </a:prstGeom>
          <a:solidFill>
            <a:srgbClr val="2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3657600" cy="5029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Stage 1 -- Resume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Multi-role consolidation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8036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Project mapping by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576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Two-column reassembly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Date standardization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12079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Anti-hallucination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371600"/>
            <a:ext cx="3657600" cy="5029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4630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Stage 2 -- JD Intelligence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1031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Detect-only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88036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15 domain categories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6576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Must vs good-to-have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443484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Responsibility mapping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212079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Placement strategy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0" y="1371600"/>
            <a:ext cx="3657600" cy="5029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14630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Stage 3 -- ATS Generation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21031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Action verb rewriting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288036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Natural keyword injection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36576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Priority skill ordering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443484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Clean LaTeX output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5212079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Balanced brackets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667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Setup &amp;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5 steps to get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9601200" cy="18288"/>
          </a:xfrm>
          <a:prstGeom prst="rect">
            <a:avLst/>
          </a:prstGeom>
          <a:solidFill>
            <a:srgbClr val="2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2194560" cy="32004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A78BFA"/>
                </a:solidFill>
                <a:latin typeface="Calibri"/>
              </a:defRPr>
            </a:pPr>
            <a:r>
              <a:t>1. Import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Workflows &gt; Import</a:t>
            </a:r>
            <a:br/>
            <a:r>
              <a:t>Upload 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260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4D399"/>
                </a:solidFill>
                <a:latin typeface="Calibri"/>
              </a:defRPr>
            </a:pPr>
            <a:r>
              <a:t>Pre-configured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371600"/>
            <a:ext cx="2194560" cy="32004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4630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A78BFA"/>
                </a:solidFill>
                <a:latin typeface="Calibri"/>
              </a:defRPr>
            </a:pPr>
            <a:r>
              <a:t>2. Credentials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0116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Add Gemini + OpenAI</a:t>
            </a:r>
            <a:br/>
            <a:r>
              <a:t>API keys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9260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4D399"/>
                </a:solidFill>
                <a:latin typeface="Calibri"/>
              </a:defRPr>
            </a:pPr>
            <a:r>
              <a:t>Link to nodes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1371600"/>
            <a:ext cx="2194560" cy="32004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14630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A78BFA"/>
                </a:solidFill>
                <a:latin typeface="Calibri"/>
              </a:defRPr>
            </a:pPr>
            <a:r>
              <a:t>3. Telegram Bot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20116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@BotFather &gt; /newbot</a:t>
            </a:r>
            <a:br/>
            <a:r>
              <a:t>Copy token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29260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4D399"/>
                </a:solidFill>
                <a:latin typeface="Calibri"/>
              </a:defRPr>
            </a:pPr>
            <a:r>
              <a:t>Add credential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0" y="1371600"/>
            <a:ext cx="2194560" cy="32004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35240" y="14630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A78BFA"/>
                </a:solidFill>
                <a:latin typeface="Calibri"/>
              </a:defRPr>
            </a:pPr>
            <a:r>
              <a:t>4. Chat 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20116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Message bot &gt; getUpdates</a:t>
            </a:r>
            <a:br/>
            <a:r>
              <a:t>Find chat.id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9260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4D399"/>
                </a:solidFill>
                <a:latin typeface="Calibri"/>
              </a:defRPr>
            </a:pPr>
            <a:r>
              <a:t>Set in nodes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0" y="1371600"/>
            <a:ext cx="2194560" cy="32004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12680" y="14630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A78BFA"/>
                </a:solidFill>
                <a:latin typeface="Calibri"/>
              </a:defRPr>
            </a:pPr>
            <a:r>
              <a:t>5. Activate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20116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Toggle Active</a:t>
            </a:r>
            <a:br/>
            <a:r>
              <a:t>Copy form URL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9260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4D399"/>
                </a:solidFill>
                <a:latin typeface="Calibri"/>
              </a:defRPr>
            </a:pPr>
            <a:r>
              <a:t>Share!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846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303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alibri"/>
              </a:defRPr>
            </a:pPr>
            <a:r>
              <a:t>n8n v2.14+  |  Gemini API (free)  |  OpenAI API (optional)  |  Telegram Bot  |  Internet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667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Deployment (Cloudflare Tunnel)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Local deployment -- no Docker, no ngrok, no cloud subs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9601200" cy="18288"/>
          </a:xfrm>
          <a:prstGeom prst="rect">
            <a:avLst/>
          </a:prstGeom>
          <a:solidFill>
            <a:srgbClr val="2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16459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Why Cloudflare Tunnel?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Free HTTPS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No URL changes drama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9202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Stable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Long-running tunnel for bots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9202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Auto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Script reads URL + sets env vars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19202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Set &amp; Forget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Less overhead than ngrok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00400"/>
            <a:ext cx="11247120" cy="16459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91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How to Deploy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1. Install cloudflared from Cloudflare's download page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2. Create start_n8n.py (auto-starts tunnel, sets env vars, launches n8n)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8055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3. Run: python start_n8n.py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846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4. Script auto-extracts URL, sets WEBHOOK_URL/N8N_HOST, starts n8n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029200"/>
            <a:ext cx="11247120" cy="15544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Post-Deployment Checklist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4864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Calibri"/>
              </a:defRPr>
            </a:pPr>
            <a:r>
              <a:t>Add Google PaLM API credential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806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Calibri"/>
              </a:defRPr>
            </a:pPr>
            <a:r>
              <a:t>Add Telegram Bot credential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1264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Calibri"/>
              </a:defRPr>
            </a:pPr>
            <a:r>
              <a:t>Set Chat ID in Telegram nodes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Calibri"/>
              </a:defRPr>
            </a:pPr>
            <a:r>
              <a:t>Copy Production URL from Form Trigger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7665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Calibri"/>
              </a:defRPr>
            </a:pPr>
            <a:r>
              <a:t>Toggle workflow to Active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667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Future Enhancements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Whats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9601200" cy="18288"/>
          </a:xfrm>
          <a:prstGeom prst="rect">
            <a:avLst/>
          </a:prstGeom>
          <a:solidFill>
            <a:srgbClr val="2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26517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Email Delivery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Gmail node to send to recruiters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371600"/>
            <a:ext cx="26517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463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Parallel 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8288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40% faster with parallel parsers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26517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63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Error Alerts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8288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Telegram on node failure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1371600"/>
            <a:ext cx="26517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1463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Google Sheets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18288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Log submissions &amp; scores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108960"/>
            <a:ext cx="26517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200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Multi-language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5661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Auto-detect &amp; translate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3108960"/>
            <a:ext cx="26517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29000" y="3200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A/B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35661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Compare keyword strategies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108960"/>
            <a:ext cx="26517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200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Company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5661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Web search before generation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3108960"/>
            <a:ext cx="26517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81160" y="3200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Version History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1160" y="35661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Store &amp; diff all resumes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4846320"/>
            <a:ext cx="26517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9377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WhatsApp Delivery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3035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Alternate delivery channel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1840" y="4846320"/>
            <a:ext cx="26517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29000" y="49377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Direct Apply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53035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LinkedIn/Indeed integration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4846320"/>
            <a:ext cx="26517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49377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Plugin System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53035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Community templates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667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Common issues &amp; fixes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9601200" cy="18288"/>
          </a:xfrm>
          <a:prstGeom prst="rect">
            <a:avLst/>
          </a:prstGeom>
          <a:solidFill>
            <a:srgbClr val="2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32004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274"/>
                </a:solidFill>
                <a:latin typeface="Calibri"/>
              </a:defRPr>
            </a:pPr>
            <a:r>
              <a:t>Missing begin document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1371600"/>
            <a:ext cx="36576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0" y="14630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LLM markdown fences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371600"/>
            <a:ext cx="41148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146304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D399"/>
                </a:solidFill>
                <a:latin typeface="Calibri"/>
              </a:defRPr>
            </a:pPr>
            <a:r>
              <a:t>Auto-fixed by 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86000"/>
            <a:ext cx="32004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77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274"/>
                </a:solidFill>
                <a:latin typeface="Calibri"/>
              </a:defRPr>
            </a:pPr>
            <a:r>
              <a:t>COMPILATION SPEC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2286000"/>
            <a:ext cx="36576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0" y="23774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Double ==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2286000"/>
            <a:ext cx="41148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237744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D399"/>
                </a:solidFill>
                <a:latin typeface="Calibri"/>
              </a:defRPr>
            </a:pPr>
            <a:r>
              <a:t>Use single =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200400"/>
            <a:ext cx="32004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2918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274"/>
                </a:solidFill>
                <a:latin typeface="Calibri"/>
              </a:defRPr>
            </a:pPr>
            <a:r>
              <a:t>Empty PDF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0480" y="3200400"/>
            <a:ext cx="36576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31920" y="32918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Scanned image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3200400"/>
            <a:ext cx="41148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329184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D399"/>
                </a:solidFill>
                <a:latin typeface="Calibri"/>
              </a:defRPr>
            </a:pPr>
            <a:r>
              <a:t>Use text PDF/DOCX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114800"/>
            <a:ext cx="32004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2062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274"/>
                </a:solidFill>
                <a:latin typeface="Calibri"/>
              </a:defRPr>
            </a:pPr>
            <a:r>
              <a:t>Telegram not send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40480" y="4114800"/>
            <a:ext cx="36576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1920" y="42062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Bot not in group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80960" y="4114800"/>
            <a:ext cx="41148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420624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D399"/>
                </a:solidFill>
                <a:latin typeface="Calibri"/>
              </a:defRPr>
            </a:pPr>
            <a:r>
              <a:t>Add &amp; make admin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029200"/>
            <a:ext cx="32004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120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274"/>
                </a:solidFill>
                <a:latin typeface="Calibri"/>
              </a:defRPr>
            </a:pPr>
            <a:r>
              <a:t>Gemini errors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0" y="5029200"/>
            <a:ext cx="36576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0" y="51206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Rate limit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80960" y="5029200"/>
            <a:ext cx="41148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512064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D399"/>
                </a:solidFill>
                <a:latin typeface="Calibri"/>
              </a:defRPr>
            </a:pPr>
            <a:r>
              <a:t>Add Wait node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78BFA"/>
                </a:solidFill>
                <a:latin typeface="Calibri"/>
              </a:defRPr>
            </a:pPr>
            <a:r>
              <a:t>AI Resume Optimizer -- your resume should work as hard as you 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0E0E0"/>
                </a:solidFill>
                <a:latin typeface="Calibri"/>
              </a:defRPr>
            </a:pPr>
            <a:r>
              <a:t>License: MIT -- Free to use, modify, share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0E0E0"/>
                </a:solidFill>
                <a:latin typeface="Calibri"/>
              </a:defRPr>
            </a:pPr>
            <a:r>
              <a:t>Author: Nitin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  <a:latin typeface="Calibri"/>
              </a:defRPr>
            </a:pPr>
            <a:r>
              <a:t>LinkedIn: linkedin.com/in/nitinkumar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  <a:latin typeface="Calibri"/>
              </a:defRPr>
            </a:pPr>
            <a:r>
              <a:t>GitHub: github.com/nitinkumar30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Built with coffee, LaTeX error logs, and belief that your resume should work as hard as you 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